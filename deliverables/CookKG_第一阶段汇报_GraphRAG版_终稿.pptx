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63fb3a92c9486e" /><Relationship Type="http://schemas.openxmlformats.org/officeDocument/2006/relationships/extended-properties" Target="/docProps/app.xml" Id="R41a566c7c1184a42" /><Relationship Type="http://schemas.openxmlformats.org/officeDocument/2006/relationships/officeDocument" Target="/ppt/presentation.xml" Id="R30549e0c32d448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4e46a0f8ed43e3"/>
  </p:sldMasterIdLst>
  <p:notesMasterIdLst>
    <p:notesMasterId xmlns:r="http://schemas.openxmlformats.org/officeDocument/2006/relationships" r:id="Rdc745698098d40b5"/>
  </p:notesMasterIdLst>
  <p:sldIdLst>
    <p:sldId xmlns:r="http://schemas.openxmlformats.org/officeDocument/2006/relationships" id="256" r:id="R127e8eb50886450f"/>
    <p:sldId xmlns:r="http://schemas.openxmlformats.org/officeDocument/2006/relationships" id="257" r:id="R75e4f102169e4cd2"/>
    <p:sldId xmlns:r="http://schemas.openxmlformats.org/officeDocument/2006/relationships" id="258" r:id="Rb1ec305b82bb4729"/>
    <p:sldId xmlns:r="http://schemas.openxmlformats.org/officeDocument/2006/relationships" id="259" r:id="R16d928dc8aba4f35"/>
    <p:sldId xmlns:r="http://schemas.openxmlformats.org/officeDocument/2006/relationships" id="260" r:id="R5469118877b14a21"/>
    <p:sldId xmlns:r="http://schemas.openxmlformats.org/officeDocument/2006/relationships" id="261" r:id="R22ac168bf6d94ede"/>
    <p:sldId xmlns:r="http://schemas.openxmlformats.org/officeDocument/2006/relationships" id="262" r:id="Rd66564f0deed46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88ac6a379a4672" /><Relationship Type="http://schemas.openxmlformats.org/officeDocument/2006/relationships/slideMaster" Target="/ppt/slideMasters/slideMaster1.xml" Id="R374e46a0f8ed43e3" /><Relationship Type="http://schemas.openxmlformats.org/officeDocument/2006/relationships/notesMaster" Target="/ppt/notesMasters/notesMaster1.xml" Id="Rdc745698098d40b5" /><Relationship Type="http://schemas.openxmlformats.org/officeDocument/2006/relationships/presProps" Target="/ppt/presProps.xml" Id="Rbdb400529b3045c0" /><Relationship Type="http://schemas.openxmlformats.org/officeDocument/2006/relationships/tableStyles" Target="/ppt/tableStyles.xml" Id="Rb4a6132d93fe4c40" /><Relationship Type="http://schemas.openxmlformats.org/officeDocument/2006/relationships/slide" Target="/ppt/slides/slide1.xml" Id="R127e8eb50886450f" /><Relationship Type="http://schemas.openxmlformats.org/officeDocument/2006/relationships/slide" Target="/ppt/slides/slide2.xml" Id="R75e4f102169e4cd2" /><Relationship Type="http://schemas.openxmlformats.org/officeDocument/2006/relationships/slide" Target="/ppt/slides/slide3.xml" Id="Rb1ec305b82bb4729" /><Relationship Type="http://schemas.openxmlformats.org/officeDocument/2006/relationships/slide" Target="/ppt/slides/slide4.xml" Id="R16d928dc8aba4f35" /><Relationship Type="http://schemas.openxmlformats.org/officeDocument/2006/relationships/slide" Target="/ppt/slides/slide5.xml" Id="R5469118877b14a21" /><Relationship Type="http://schemas.openxmlformats.org/officeDocument/2006/relationships/slide" Target="/ppt/slides/slide6.xml" Id="R22ac168bf6d94ede" /><Relationship Type="http://schemas.openxmlformats.org/officeDocument/2006/relationships/slide" Target="/ppt/slides/slide7.xml" Id="Rd66564f0deed46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ca290f144b46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775cfcdf924882" /><Relationship Type="http://schemas.openxmlformats.org/officeDocument/2006/relationships/notesMaster" Target="/ppt/notesMasters/notesMaster1.xml" Id="Rc41cf0bd562b4d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9cdeee0c1d40e6" /><Relationship Type="http://schemas.openxmlformats.org/officeDocument/2006/relationships/notesMaster" Target="/ppt/notesMasters/notesMaster1.xml" Id="R47081d62cbbf4a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8270306f354222" /><Relationship Type="http://schemas.openxmlformats.org/officeDocument/2006/relationships/notesMaster" Target="/ppt/notesMasters/notesMaster1.xml" Id="Rf8ad53948c194f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c88ee721f74146" /><Relationship Type="http://schemas.openxmlformats.org/officeDocument/2006/relationships/notesMaster" Target="/ppt/notesMasters/notesMaster1.xml" Id="R17b428efc2784f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a2f4c85db749e1" /><Relationship Type="http://schemas.openxmlformats.org/officeDocument/2006/relationships/notesMaster" Target="/ppt/notesMasters/notesMaster1.xml" Id="R45dce04f953a45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66a19ea494494a" /><Relationship Type="http://schemas.openxmlformats.org/officeDocument/2006/relationships/notesMaster" Target="/ppt/notesMasters/notesMaster1.xml" Id="Redd454e73eae44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5e04337c3042fb" /><Relationship Type="http://schemas.openxmlformats.org/officeDocument/2006/relationships/notesMaster" Target="/ppt/notesMasters/notesMaster1.xml" Id="Rbce8be7969df44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【0:00–0:15】老师好，我们的课题是 CookKG，目标是做一个面向家庭菜单规划的食材知识图谱与 GraphRAG 系统。第一阶段先完成知识图谱构建和图谱约束检索，让系统能处理库存、补购上限和类别忌口。大模型知识注入放在下一阶段。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【0:15–0:50】按照课程中的 GraphRAG 框架，我们明确了三项技术选择。第一，图谱构建采用规则解析、别名归一化和人工审核。第二，检索器先采用图遍历完成类别忌口，再结合联合补购优化。第三，下一阶段加入 HybridCypher，把局部子图和菜谱原文一起注入大模型。硬约束仍由图谱和算法判断，大模型只负责解释和带引用问答。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【0:50–1:25】数据来自开源项目 HowToCook，并固定到一个提交版本。我们扫描 370 个 Markdown，其中 369 道是非模板菜谱。处理流程依次解析原料、步骤和工具，统一食材别名，保留每条关系的原文证据，然后生成预标注草稿并通过审核门禁。这里要区分三层数据：来源层 369 道，草稿层 100 道，但人工确认仍为零；严格层目前有 10 道，正式推荐只使用这 10 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:25–2:05】图谱包含菜谱、食材、食材类别、工具和选择组五类实体。主要关系包括必需食材、可选食材、选择组、食材所属类别、类别层级和所需工具。以小炒肉为例，它必需使用小米椒，小米椒属于辣椒。用户排除辣椒时，系统沿类别关系找到小米椒，再沿必需关系淘汰小炒肉。必需冲突会淘汰，可选冲突只省略，选择组则从允许的成员中选取。系统还保存完整关系路径，供后续 GraphRAG 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【2:05–2:50】架构分成三条链路。离线阶段从固定菜谱出发，完成解析、归一化、预标注和审核，最终生成带证据的标准图。当前在线链路接收库存和忌口，先做图谱遍历，再做多道菜组合优化，通过 FastAPI 和页面返回结果。下一阶段加入向量检索和 HybridCypher，把局部子图与菜谱原文注入大模型。大模型可以解释推荐并回答问题，但忌口和补购约束仍由确定性算法执行。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【2:50–3:30】这是连接真实 FastAPI 的页面。输入鸡蛋、洋葱和面包片，排除辣椒，做两道菜，最多补购两种。系统给出的第一方案是空气炸锅面包片加洋葱炒鸡蛋，合并后只补购葱。与此同时，小炒肉需要小米椒，小米椒属于辣椒，所以系统沿图谱路径把小炒肉排除。页面既给出菜单，也能说明每个硬约束如何生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【3:30–4:00】第一阶段已经形成 539 个节点、1292 条关系的标准图，完成 4 个真实接口，并通过 99 个后端测试和 17 个前端测试。下一阶段先做 20 道双人独立标注和裁决，再扩大审核数据并建立人工评测集；随后接入 Neo4j、向量检索和 HybridCypher，把局部子图与原文证据注入大模型，完成带引用的 GraphRAG 问答。谢谢老师。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42ad78ae94a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fe8464f0324a66" /><Relationship Type="http://schemas.openxmlformats.org/officeDocument/2006/relationships/slideLayout" Target="/ppt/slideLayouts/slideLayout1.xml" Id="R26b5f6f46f3e41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b5f6f46f3e41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8d993f6164d28" /><Relationship Type="http://schemas.openxmlformats.org/officeDocument/2006/relationships/notesSlide" Target="/ppt/notesSlides/notesSlide1.xml" Id="Rfad28bb2a2854e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80f03c95e4be5" /><Relationship Type="http://schemas.openxmlformats.org/officeDocument/2006/relationships/notesSlide" Target="/ppt/notesSlides/notesSlide2.xml" Id="Rbdac8f4cfd9949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4ec2e499c4515" /><Relationship Type="http://schemas.openxmlformats.org/officeDocument/2006/relationships/notesSlide" Target="/ppt/notesSlides/notesSlide3.xml" Id="R8ee8a7bca32643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1e4a6b8be4d65" /><Relationship Type="http://schemas.openxmlformats.org/officeDocument/2006/relationships/notesSlide" Target="/ppt/notesSlides/notesSlide4.xml" Id="Reed8e8c3368947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5b56d1ebe4613" /><Relationship Type="http://schemas.openxmlformats.org/officeDocument/2006/relationships/notesSlide" Target="/ppt/notesSlides/notesSlide5.xml" Id="R75de74ab55c140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f1e3091e14a84" /><Relationship Type="http://schemas.openxmlformats.org/officeDocument/2006/relationships/image" Target="/ppt/media/image.png" Id="Rf27b21bc837e4c31" /><Relationship Type="http://schemas.openxmlformats.org/officeDocument/2006/relationships/notesSlide" Target="/ppt/notesSlides/notesSlide6.xml" Id="R0c2b81a7825948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9ef063d964e10" /><Relationship Type="http://schemas.openxmlformats.org/officeDocument/2006/relationships/notesSlide" Target="/ppt/notesSlides/notesSlide7.xml" Id="R8260b690ac3640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094EA-5D52-4D2F-BE8A-09C6FA4E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6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E9221-ACFB-4BD7-9C1E-81B57159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38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CookKG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BC08A-FFEB-4A1B-9B1F-8F431A66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885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面向家庭菜单规划的食材知识图谱与 GraphRAG 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894A5-D525-48C9-B7C9-FD751BA7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385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5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9D5EA"/>
                </a:solidFill>
                <a:latin typeface="Microsoft YaHei"/>
                <a:ea typeface="Microsoft YaHei"/>
                <a:cs typeface="Microsoft YaHei"/>
              </a:rPr>
              <a:t>第一阶段：知识图谱构建与约束检索闭环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83E7C-CE33-4080-9F98-9F806226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507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42EBB-B561-4CC5-97A4-455668BE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76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64"/>
          </a:solidFill>
          <a:ln xmlns:a="http://schemas.openxmlformats.org/drawingml/2006/main" w="9525">
            <a:solidFill>
              <a:srgbClr val="078A6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9BEAC-7000-4599-9A60-CA62F358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148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5947E-78EB-4239-9549-472BB7D3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8006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知识图谱构建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61D1C-AC30-4ACF-8726-203D3C95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0958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0E185-2381-4770-99BC-C374FCD5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76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64"/>
          </a:solidFill>
          <a:ln xmlns:a="http://schemas.openxmlformats.org/drawingml/2006/main" w="9525">
            <a:solidFill>
              <a:srgbClr val="078A6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98C60-7DA8-4AE3-97A0-A423AB75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148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1AE83-AC5B-4789-948E-BFFBFDBB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006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图谱约束检索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D4136-41BB-41E7-ADE8-DCF13288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0958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27E2F-4C34-4940-8073-B7CDC569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276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1BD"/>
          </a:solidFill>
          <a:ln xmlns:a="http://schemas.openxmlformats.org/drawingml/2006/main" w="9525">
            <a:solidFill>
              <a:srgbClr val="8FA1B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8C377-E35C-47D9-BE9B-363A75D8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3148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35D80-CF55-41CF-9DD4-0BEDF64B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8006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大模型知识注入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18375-9B67-48DD-9FD6-2B0C3441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0958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FA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FA1BD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DC151-B5AA-44A8-B844-5EB35243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FA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FA1BD"/>
                </a:solidFill>
                <a:latin typeface="Microsoft YaHei"/>
                <a:ea typeface="Microsoft YaHei"/>
                <a:cs typeface="Microsoft YaHei"/>
              </a:rPr>
              <a:t>知识工程综合实践 · 第一阶段汇报 · 4 分钟</a:t>
            </a:r>
          </a:p>
        </p:txBody>
      </p:sp>
    </p:spTree>
    <p:extLst>
      <p:ext uri="{BB962C8B-B14F-4D97-AF65-F5344CB8AC3E}">
        <p14:creationId xmlns:p14="http://schemas.microsoft.com/office/powerpoint/2010/main" val="17849884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C7D0D9-7A3A-4DBD-B455-8C8A0232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F79EA-E338-4011-AF84-2BF7CAB6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GraphRAG 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E34A9-38DE-4EC8-AD6D-F6B8F9A4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79C13-C504-4697-9CA8-56CA883A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示例问题：有鸡蛋、洋葱和面包片，不吃辣椒，做 2 道菜，最多补购 2 种食材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9E4E8-BF10-40CB-97BF-DE049F5F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6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8FD33-98DB-4AAF-8CB0-1FACC1AF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457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3E9E9-8350-4F11-9FB8-194601B7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574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知识图谱构建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38247-E5D6-421D-81A9-92ABE65E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rPr>
              <a:t>第一阶段完成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9191B-8275-4345-96F5-A5ACBE08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8A6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256EA-84C8-445B-98BA-8A9B0652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105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Markdown 规则解析</a:t>
            </a:r>
          </a:p>
          <a:p xmlns:a="http://schemas.openxmlformats.org/drawingml/2006/main">
            <a:pPr algn="l">
              <a:def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食材别名归一化</a:t>
            </a:r>
          </a:p>
          <a:p xmlns:a="http://schemas.openxmlformats.org/drawingml/2006/main">
            <a:pPr algn="l">
              <a:def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来源绑定预标注与人工审核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CA4B7-3E53-4974-ACDB-D5B2194A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3431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F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B824C-A247-47A5-A925-FA5D581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33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67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BDE65-A1F7-48D8-8DD5-984A4ECC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00275"/>
            <a:ext cx="457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F95D9-9755-4E30-B27F-35A477C8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0574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图谱检索器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A8196-5C42-42CD-860D-AD2F2E36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19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第一阶段完成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ACE6A-619D-4148-8209-3FD1EA2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67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5B9B4-DF29-4AE1-9464-A89E7D43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62300"/>
            <a:ext cx="3105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类别层级图遍历</a:t>
            </a:r>
          </a:p>
          <a:p xmlns:a="http://schemas.openxmlformats.org/drawingml/2006/main">
            <a:pPr algn="l">
              <a:def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必需与可选关系过滤</a:t>
            </a:r>
          </a:p>
          <a:p xmlns:a="http://schemas.openxmlformats.org/drawingml/2006/main">
            <a:pPr algn="l">
              <a:def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多道菜联合补购优化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F6E4A-6F94-46A6-9740-DAB16654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431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F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65523-9544-494F-99EE-79037874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33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2C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77A62-EB68-413B-BE1C-D0F8419C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00275"/>
            <a:ext cx="457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0D01D-0B1B-47E4-A83E-98FECA02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知识注入与 LLM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2BCA9-A234-416D-882D-E1510295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36C97F-86EA-427E-8B07-E5767B57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051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452C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9884E0-C22D-4E2B-B6AA-DB102297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62300"/>
            <a:ext cx="3105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HybridCypher 检索</a:t>
            </a:r>
          </a:p>
          <a:p xmlns:a="http://schemas.openxmlformats.org/drawingml/2006/main">
            <a:pPr algn="l">
              <a:def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局部子图与原文证据注入</a:t>
            </a:r>
          </a:p>
          <a:p xmlns:a="http://schemas.openxmlformats.org/drawingml/2006/main">
            <a:pPr algn="l">
              <a:def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生成带引用的解释与问答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9ABFFD-7DFF-41E4-8884-7DFD9D8F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828675"/>
          </a:xfrm>
          <a:prstGeom xmlns:a="http://schemas.openxmlformats.org/drawingml/2006/main" prst="roundRect">
            <a:avLst>
              <a:gd name="adj" fmla="val 18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522BEE-A2D7-47C9-9DF3-321657C9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当前闭环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82CE29-CC07-402D-848C-9335C70D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054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74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结构化知识负责硬约束判断，推荐算法负责组合优化；后续 LLM 只解释检索证据，不决定硬约束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F8D45E-888B-4AC8-AB3C-CF5617AF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CookKG · 第一阶段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615EE8-6EFD-4174-BEEA-02889AB7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9781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89B41F-8BE4-4C32-8EA4-E1D3C555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91188-1B68-43C6-9099-7B714359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数据来源与构建流程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1B17B-1ED7-4CE3-9F9A-01718D17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CD1F0-936F-448E-93C9-E32B69AB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HowToCook 固定到提交 2b19c9e9…，保证每次构建使用同一版本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90D42-982C-4CE4-8CE7-123717BF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8478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667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A3ACA-B650-4CE8-B489-AEEAF2EC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AAA71-91B9-40D4-AEF6-9BDEC1B9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开源菜谱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87AE9-0AD3-404D-9A06-66ACDF96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370 个 Markdown</a:t>
            </a:r>
          </a:p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369 道非模板菜谱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F37B3-08FD-4300-BDA6-B7F69945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956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F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C7814-7123-4A84-B27F-EE243D0F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33600"/>
            <a:ext cx="18478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9525">
            <a:solidFill>
              <a:srgbClr val="087EA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6211C-CC8D-43EE-89CE-AC29AC27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266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A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6CA67-1EA8-48D9-8060-A5A915E4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717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规则解析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5F767-E194-4C01-B6F7-C7830056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81325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原料、步骤、工具</a:t>
            </a:r>
          </a:p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保留原文证据位置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5DBC4-B05F-4FF3-9AFF-97F8F908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956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F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63993-3503-41AF-A4DC-D1E58A7A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33600"/>
            <a:ext cx="18478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078A6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4A7BD4-0131-447D-8644-BE1487CF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66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B3D48-F5F8-4E8E-930E-17DC0092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实体归一化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BB197-B418-473C-B080-803A285C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81325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别名映射</a:t>
            </a:r>
          </a:p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关系状态与稳定 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F968E-A2CF-466F-83DC-F65AF457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956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F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72AE4-F38F-412D-9FD0-01671D45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133600"/>
            <a:ext cx="18478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C8750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13F64-7886-4747-A59B-4A3F3B4C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66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75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8750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C18CD2-1AB5-486C-A61A-B3751582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717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来源绑定草稿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C20C23-ECEF-4D1C-B390-BBB16755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81325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100 道预标注</a:t>
            </a:r>
          </a:p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等待人工确认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593EDE-FA5F-46E7-A43E-DA829E93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956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F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EEE2D-C11C-4129-A643-185B1CE8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33600"/>
            <a:ext cx="18478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0ECFB"/>
          </a:solidFill>
          <a:ln xmlns:a="http://schemas.openxmlformats.org/drawingml/2006/main" w="9525">
            <a:solidFill>
              <a:srgbClr val="7452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03EB7C-2E7D-4C7F-8005-1A3235F6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66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15125E-1018-4C20-903F-1FA8A2B0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717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审核门禁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4D21BC-D23D-44BF-BCA2-1EE58562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81325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严格推荐仅使用</a:t>
            </a:r>
          </a:p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10 道已审核菜谱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A1F4F2-7672-47C6-9370-08C43152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三层数据口径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7A179E-FC95-4087-B280-AFD82A49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9415AA-9798-4CA4-B7DC-E2593FF3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来源层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7FBCF4-0E57-4C2C-879C-1409E3CB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369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55F9C6-BC07-46D4-B447-9C29F94F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863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非模板菜谱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0E711A-805F-4C24-9560-D1853C24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19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75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7508"/>
                </a:solidFill>
                <a:latin typeface="Microsoft YaHei"/>
                <a:ea typeface="Microsoft YaHei"/>
                <a:cs typeface="Microsoft YaHei"/>
              </a:rPr>
              <a:t>草稿层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FE3FC2-D055-46FB-9366-17A6C7C8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76825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875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C87508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F62F8B-C247-4AE4-99F0-90F7F13A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863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262 种食材 · 42 个选择组 · 0 人工确认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4C27F9-A1DD-4767-9F1D-75CCEF7B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19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rPr>
              <a:t>严格层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754762-C447-47C7-9E5E-DDB6F4E9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76825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3DBF04-5DDA-446D-B82E-9BEF4DE7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863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哈希绑定并通过人工审核，可进入正式推荐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178622-CE35-41C9-BC7B-82988BAE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7610F0-CBA2-4459-B49F-6D90CACB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75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7508"/>
                </a:solidFill>
                <a:latin typeface="Microsoft YaHei"/>
                <a:ea typeface="Microsoft YaHei"/>
                <a:cs typeface="Microsoft YaHei"/>
              </a:rPr>
              <a:t>100 道是可追溯预标注草稿，并非 100 道已审核数据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7CB93D-C882-49AE-85F5-C2DDDBFD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CookKG · 第一阶段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D731DC-1552-47D2-8C7E-89CF334B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691689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C1BBAF-E8AA-4090-93F3-CC3CE52C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B9720-FE3F-42A1-8A82-E22258A4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实体、关系与约束语义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B5710-B498-43EB-A513-EAD64A4C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381B2-8466-46EE-9C37-9E3D42BD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5621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667E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8F431-8555-463A-A9EC-EB927570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小炒肉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DAB7C-BBB9-4C14-91AC-C10D7F2A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24075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Recipe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76331-3E8B-4CD4-BF08-0DCF1A58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9750"/>
            <a:ext cx="15621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078A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E074F-93A0-49A7-8471-8FFD08BC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6690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rPr>
              <a:t>小米椒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73980-5BCB-48AF-9647-F8C7690D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24075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Ingredient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F8EE2-3184-4995-8E4F-465606CA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09750"/>
            <a:ext cx="16573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0ECFB"/>
          </a:solidFill>
          <a:ln xmlns:a="http://schemas.openxmlformats.org/drawingml/2006/main" w="9525">
            <a:solidFill>
              <a:srgbClr val="7452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51C35-D1F4-4F65-8730-D96804AE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669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rPr>
              <a:t>辣椒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E4FB2-E3D8-4B4B-95DF-647BDE68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2407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IngredientCategory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2C1B2-247D-4635-A027-49808BEE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16573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0ECFB"/>
          </a:solidFill>
          <a:ln xmlns:a="http://schemas.openxmlformats.org/drawingml/2006/main" w="9525">
            <a:solidFill>
              <a:srgbClr val="7452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0E475-9E65-4E7F-875A-D9F2FB94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rPr>
              <a:t>蔬菜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FD26E-4F2E-42AE-B5BE-E37D6F33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2407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IngredientCategory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C8B27-24FF-4521-8F83-3F07939C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859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63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DAC3F-D3DC-409D-9E29-92F3552B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526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36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363E"/>
                </a:solidFill>
                <a:latin typeface="Microsoft YaHei"/>
                <a:ea typeface="Microsoft YaHei"/>
                <a:cs typeface="Microsoft YaHei"/>
              </a:rPr>
              <a:t>REQUIRES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F88E9-780D-4E35-BB2F-632DC1B7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859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8A6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F7165D-67E9-4875-9C18-CA700F58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7526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rPr>
              <a:t>IS_A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0B410-2E23-4510-B5DF-3492F970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859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452C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2E7520-8BC7-4402-B366-9ADB6874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5260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rPr>
              <a:t>SUBCLASS_OF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8211DE-5E43-4069-BCF8-AFC74D63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752600"/>
            <a:ext cx="17335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DEDEF"/>
          </a:solidFill>
          <a:ln xmlns:a="http://schemas.openxmlformats.org/drawingml/2006/main" w="9525">
            <a:solidFill>
              <a:srgbClr val="D9363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9A73E-AE45-42DF-B3D7-F6365D0E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38325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36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363E"/>
                </a:solidFill>
                <a:latin typeface="Microsoft YaHei"/>
                <a:ea typeface="Microsoft YaHei"/>
                <a:cs typeface="Microsoft YaHei"/>
              </a:rPr>
              <a:t>排除“辣椒”</a:t>
            </a:r>
          </a:p>
          <a:p xmlns:a="http://schemas.openxmlformats.org/drawingml/2006/main">
            <a:pPr algn="ctr">
              <a:defRPr sz="1350" b="1">
                <a:solidFill>
                  <a:srgbClr val="D936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363E"/>
                </a:solidFill>
                <a:latin typeface="Microsoft YaHei"/>
                <a:ea typeface="Microsoft YaHei"/>
                <a:cs typeface="Microsoft YaHei"/>
              </a:rPr>
              <a:t>淘汰小炒肉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8930DD-BFA5-4822-BE40-564D4329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1329B3-5238-4BCA-848F-59A7468C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五类实体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0B7DAC-EC57-42E0-B4D6-1F5A1763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C68EA1-7D4B-4D41-B9EF-F0819691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Recipe 菜谱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C1B424-54E6-45D9-BA3C-F280987E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718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1A4CF0-0BBA-40E5-AF56-16792B6A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90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rPr>
              <a:t>Ingredient 食材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871212-58DC-4F9F-AAA6-26CA6914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22383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2B1DD2-91BD-45B4-BF8B-4BA36E17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90900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rPr>
              <a:t>IngredientCategory 类别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D1E568-755B-41CC-8A07-40EE3451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190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0B4B71-3E1F-4529-80D5-7EE1942E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7EA4"/>
                </a:solidFill>
                <a:latin typeface="Microsoft YaHei"/>
                <a:ea typeface="Microsoft YaHei"/>
                <a:cs typeface="Microsoft YaHei"/>
              </a:rPr>
              <a:t>Tool 工具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EE4ECC-8D2F-49C4-A17D-47332CA5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52850"/>
            <a:ext cx="1952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0657FF-0021-4BD5-86C6-73330A4A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719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75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7508"/>
                </a:solidFill>
                <a:latin typeface="Microsoft YaHei"/>
                <a:ea typeface="Microsoft YaHei"/>
                <a:cs typeface="Microsoft YaHei"/>
              </a:rPr>
              <a:t>ChoiceGroup 选择组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5BC559-5DA1-4029-AAB4-F5D4CFBE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六类关系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CEEEF8-E2B7-4816-8FDB-02EF6FE7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REQUIRES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A5566C-2F49-47DF-886C-FFD7B77E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OPTIONALLY_USES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AE2968-243C-4A86-8642-D75D3097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19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ONE_OF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E2D876-2F7D-4740-8BF7-AB062A7E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IS_A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3366E0-5579-4F4D-B0F7-85886CE1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19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SUBCLASS_OF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BF70CA-4D94-4227-9382-4830E5CF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19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REQUIRES_TOOL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8E3D44-2E87-429B-B50A-2FE8A74B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76575"/>
            <a:ext cx="394335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8CDBF2-BBC1-4A5E-B037-88E1CADA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766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关系如何影响推荐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B9F1BE-C1B6-44F1-AC76-CD220219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363E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A1E639-1DF4-404C-95B7-54FDF41B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14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必需食材冲突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7D2EA5-126E-4708-B52B-59B0B22F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7147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淘汰菜谱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84B08C-E428-4402-BDC0-D49ED13E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508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2B70F0-AF4D-4AFA-91F5-44DE322C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1052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可选食材冲突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11DCA4-C563-4141-9DFE-70887C0D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1052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保留菜谱并省略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8223E0-EB72-42F2-A002-9E2318C9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67E8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913B21-E02E-4381-B40B-4547296F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495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封闭选择组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326A2B-1B58-4DB4-B23A-815B733A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4958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从可用成员中选择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4E70E4-FDFB-4765-8E9F-884E3782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53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2C8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6CE21E-6D60-4533-9342-69D0225D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863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类别层级命中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52F5C3-805F-427B-ADFC-F8A2D47D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8863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保存推理路径用于解释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21B781-0064-42E2-9B0B-AAC10B7B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869C60-2345-4ACE-AA17-4AB75021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54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图谱保存“为什么被推荐或排除”的关系路径，后续可直接作为 GraphRAG 的结构化证据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0D7396-B615-48FD-AF31-F64C55FE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CookKG · 第一阶段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31568F8-832B-4ED1-BC71-48DF3DA2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588432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BAE81D-E867-4D31-A52A-CA4DC6D7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5DA44-0ECD-4730-B77A-72B89853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系统架构与数据流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2AD0C-C3E4-42C9-8166-0C1FC115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A09E0-3480-4C18-BEAE-89193237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rPr>
              <a:t>离线建图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C7260-66E4-493E-B6BC-354B30F8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稳定数据与证据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79FAA-221B-486F-BA57-9E848EB8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当前在线链路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05724-5309-4BE9-9DAE-9FA347CF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已完成真实联调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6D424-1232-467C-8A14-84AEC33A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rPr>
              <a:t>完整 GraphRAG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6A3CB-DF53-4B6A-97E2-2928D188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5F7F0-E9F1-440C-AE1C-962B1835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43050"/>
            <a:ext cx="18478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DEEA4-5C94-4453-A2C2-89B04D54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573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HowToCook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B126C-099A-4F94-8B83-20F7618E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431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固定版本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778AB-A47F-4D9A-AB99-03441F70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3357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F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95090-90C0-4FDA-95DD-AA118797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43050"/>
            <a:ext cx="18478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A0454-4887-4B37-93A3-F75B5888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573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解析与归一化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0E59AA-EE3C-42B2-B951-F70F5024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9431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原文证据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C1024-BF0D-4AD8-A3C4-221F1333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3357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F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66553-604D-4915-8CB3-D18280F3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43050"/>
            <a:ext cx="18478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9A0A80-9E85-4F35-998F-DC8AD5CB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573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预标注与审核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6AED2-75B2-4FB6-B5E6-E0F9CDFE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431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门禁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35941-35EF-465C-95D2-8017B1A9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3357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F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52EB8-08F4-436C-A66A-EBBE7589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43050"/>
            <a:ext cx="18478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078A6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5DFDE-DB0A-42E9-A21F-C7B95102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573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标准图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675A41-D04E-453A-B869-2E640EA3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431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NetworkX / Neo4j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5ED3F5-32A6-4903-9187-6CEED3D9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33725"/>
            <a:ext cx="18478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A6269-2C54-4741-AF82-011F0B5C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480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用户约束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7FFB0A-D7E3-44D5-8363-4EA18749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3377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库存 / 忌口 / 菜数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0F263D-0D98-495F-992D-7B85A9C2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242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67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0192D4-8372-4D14-BC6A-AC582073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33725"/>
            <a:ext cx="18478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56AD08-7671-4497-8CED-C51F56DE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480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图谱遍历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4683B2-2BEF-4CBE-9606-1DF13B8D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3377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层级排除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24A8AF-1DEF-4527-B1E1-55220BD1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67E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06F84C-B2A5-40F5-90B9-D3838424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33725"/>
            <a:ext cx="18478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4403D0-B50E-4699-A501-8E18D150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480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组合优化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0E155E-C3B0-47AA-925F-FF0777BE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3377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联合补购最少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315C51-CB33-4141-B21C-14525FE8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242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67E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010DEC-5D1C-469E-94B1-53C42090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33725"/>
            <a:ext cx="18478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667E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06AC7B-F8DB-4A1E-8E3F-48888ABA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480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FastAPI + UI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B996BC-32EB-414E-9D67-72D22E70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3377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结果与证据路径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A47D16-9EBF-4F1A-B8DA-88C03981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24400"/>
            <a:ext cx="18478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1DF29D-9BF8-462F-B895-F3FCFFC0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向量检索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0DFF1E-70C7-4C4E-89A9-26AA6650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244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菜谱文本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CED093-9FC9-4168-936E-EF4A887F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1492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52C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BB3CD1-9BB0-4D14-8C22-F95C09AF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24400"/>
            <a:ext cx="18478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D9AFE4-ABCB-4B70-A153-D4685B2F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387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HybridCypher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37DA39-BFC9-439B-8AB9-61990832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244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图与文本融合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4BC780-D9FD-456D-A87A-7ACE2C92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1492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52C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F953FD-AA70-42DC-AD82-8C22C232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24400"/>
            <a:ext cx="18478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7F7223-E112-4B06-A33C-0EED3BB1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387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证据注入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71B9D9-DCFF-45B1-8578-26542E28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244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子图 + 原文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110456-B10F-4112-934B-CD8FA08C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1492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52C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FCDF57-9467-407C-96F2-2B5F37D9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24400"/>
            <a:ext cx="18478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0ECFB"/>
          </a:solidFill>
          <a:ln xmlns:a="http://schemas.openxmlformats.org/drawingml/2006/main" w="9525">
            <a:solidFill>
              <a:srgbClr val="7452C8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9CC771-A3E2-445B-B688-65424EE3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387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LLM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7620CA-CC6F-41D3-825C-4B592257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244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解释与引用问答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EE417A0-E0F5-4ED5-8853-77E33932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479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1EFC25-4C76-4FD5-888B-AAE75335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3862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4436A30-BEDF-464D-BA7C-C32C2502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9105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DEDE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5C3A7B-7B08-45B9-9D24-50A26371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76925"/>
            <a:ext cx="872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36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363E"/>
                </a:solidFill>
                <a:latin typeface="Microsoft YaHei"/>
                <a:ea typeface="Microsoft YaHei"/>
                <a:cs typeface="Microsoft YaHei"/>
              </a:rPr>
              <a:t>边界：LLM 生成解释，图谱与确定性算法执行忌口和补购约束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EB3C57-E4A2-41EB-9C09-3FE064C9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CookKG · 第一阶段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E4DB31-EE1E-43DF-B666-688BD59F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1682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325E3A-EAA2-4CB8-940B-E20B035E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82409-86C7-404E-8AD3-8742CD6A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真实联调示例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95E15-5621-4D38-B1CD-5270C4FF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b21bc837e4c31"/>
          <a:stretch xmlns:a="http://schemas.openxmlformats.org/drawingml/2006/main"/>
        </p:blipFill>
        <p:spPr>
          <a:xfrm xmlns:a="http://schemas.openxmlformats.org/drawingml/2006/main">
            <a:off x="499110" y="1457325"/>
            <a:ext cx="6583680" cy="4572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CCF7E-9B6D-4A8C-BEF9-9BA2A1E3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240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0450B-6647-48A2-AF6C-19B32C6B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097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鸡蛋、洋葱、面包片</a:t>
            </a:r>
          </a:p>
          <a:p xmlns:a="http://schemas.openxmlformats.org/drawingml/2006/main">
            <a:pPr algn="l">
              <a:defRPr sz="16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排除辣椒 · 2 道菜 · 最多补购 2 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E8E31-497F-4C5C-9020-3F29ED94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670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63F2D-0774-4D01-8195-94B5E986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670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rPr>
              <a:t>联合推荐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1D6C6-33FA-4525-A7AA-2E0F4514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432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空气炸锅面包片 + 洋葱炒鸡蛋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A66E4-6A25-4DC1-B80B-E44CBB34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43325"/>
            <a:ext cx="186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8372D-0825-4804-A8EA-61BC4599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6237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75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7508"/>
                </a:solidFill>
                <a:latin typeface="Microsoft YaHei"/>
                <a:ea typeface="Microsoft YaHei"/>
                <a:cs typeface="Microsoft YaHei"/>
              </a:rPr>
              <a:t>只补购 1 种：葱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C03B1-22BA-4FAF-998B-A0FCC872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291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36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363E"/>
                </a:solidFill>
                <a:latin typeface="Microsoft YaHei"/>
                <a:ea typeface="Microsoft YaHei"/>
                <a:cs typeface="Microsoft YaHei"/>
              </a:rPr>
              <a:t>排除解释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5D718-51AD-443B-8CA5-F3DFD063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52950"/>
            <a:ext cx="12001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667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D1721-D496-494A-85A7-99005D30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10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小炒肉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1EA9A-8A7E-4B5D-ACC2-2B5A9899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67275"/>
            <a:ext cx="93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Recipe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00711-DD00-4185-9FD6-C47F5B1D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52950"/>
            <a:ext cx="12001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078A6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EC2A5-466C-4A24-97B0-83F6400B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101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rPr>
              <a:t>小米椒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A5846-F704-4937-AD11-359E4632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67275"/>
            <a:ext cx="93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Ingredient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8FBCB-53ED-45B2-BE11-826CE5E5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52950"/>
            <a:ext cx="8382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0ECFB"/>
          </a:solidFill>
          <a:ln xmlns:a="http://schemas.openxmlformats.org/drawingml/2006/main" w="9525">
            <a:solidFill>
              <a:srgbClr val="7452C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BE29E2-3C03-41D8-AC9C-C650BB54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61010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rPr>
              <a:t>辣椒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A88C1-2100-4058-B6F6-C727C330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867275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Category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13130B-AAC1-4596-BF82-E0A6D3CE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291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63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D1DD4-2E7E-4E5D-807B-8C481DF9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291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363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C6969F-527B-4C00-A0C1-D78EC4EE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10100"/>
            <a:ext cx="342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36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363E"/>
                </a:solidFill>
                <a:latin typeface="Microsoft YaHei"/>
                <a:ea typeface="Microsoft YaHei"/>
                <a:cs typeface="Microsoft YaHei"/>
              </a:rPr>
              <a:t>必需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3FD527-B598-4729-9E6E-5A3710F9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10100"/>
            <a:ext cx="342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36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363E"/>
                </a:solidFill>
                <a:latin typeface="Microsoft YaHei"/>
                <a:ea typeface="Microsoft YaHei"/>
                <a:cs typeface="Microsoft YaHei"/>
              </a:rPr>
              <a:t>属于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CD71CE-008B-44EC-BC54-C05747F1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57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36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363E"/>
                </a:solidFill>
                <a:latin typeface="Microsoft YaHei"/>
                <a:ea typeface="Microsoft YaHei"/>
                <a:cs typeface="Microsoft YaHei"/>
              </a:rPr>
              <a:t>辣椒类别命中小米椒，小炒肉退出候选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5D3CE6-28A3-4BDA-947F-57BEB376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753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该流程已通过真实 FastAPI 浏览器端到端测试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03512A-E272-42A7-9C7D-B522B635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CookKG · 第一阶段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3B37A8-D051-4487-85E7-CBD9C359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27162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D75612-FA66-4729-818B-72F71B92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26AF2-EA33-48FC-B0B1-F260D99B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第一阶段结果与后续计划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D6404-6D59-4C4E-8B6E-6E64CC6B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82B8A-49DA-4659-B5FA-2D97E626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667E8"/>
                </a:solidFill>
                <a:latin typeface="Microsoft YaHei"/>
                <a:ea typeface="Microsoft YaHei"/>
                <a:cs typeface="Microsoft YaHei"/>
              </a:rPr>
              <a:t>539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03E12-704C-4983-BB54-3A4ECABB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图谱节点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1A25C-C6BE-4194-B259-25C42178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668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452C8"/>
                </a:solidFill>
                <a:latin typeface="Microsoft YaHei"/>
                <a:ea typeface="Microsoft YaHei"/>
                <a:cs typeface="Microsoft YaHei"/>
              </a:rPr>
              <a:t>1,292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97B6C-0F6B-47AE-BA5A-8CF4BC73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716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图谱关系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130F6-C461-489B-902F-A256C9FE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78A6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337C1-9406-4494-B6F7-B0F95A45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716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真实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CEC3A-5E27-4B0D-ACAD-71101E36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668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875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87508"/>
                </a:solidFill>
                <a:latin typeface="Microsoft YaHei"/>
                <a:ea typeface="Microsoft YaHei"/>
                <a:cs typeface="Microsoft YaHei"/>
              </a:rPr>
              <a:t>99 + 17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7DC88-5F29-44E2-A4AB-93C95F0C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716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后端与前端测试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BC699-4556-4F66-BB74-F2DCDD8E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EAAA4-894A-4F30-A73E-B42E3DB5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B95AC-852B-4CA3-9D59-705FAE1A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67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FFDB3-0DDC-4990-8877-D8EBCD3F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C822A-DC60-437F-A6C6-8BA3EC7C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完成 20 道双人独立标注与裁决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00AEA-2767-4A4A-BB1A-273C1B2A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再逐步审核 100 道草稿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20341-6DE8-4A95-9A3A-EA3ECD8C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6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08205-9246-4753-8F72-343FB08A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B6FE36-C768-476D-84DF-A8E7E6B7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290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建立人工评测集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F9229A-094E-4A17-AD51-C684CFC2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434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比较约束违反率、补购种类数和引用正确率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905F4-F49B-43FC-B940-2B273743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2C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91D31-8AE8-4ABE-A66D-B709F7CC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D57DF-2350-472B-8B83-5A4A1E63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接入 Neo4j 与向量检索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913FA4-A25B-4669-9996-3AC53931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实现 HybridCypher 检索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E47CF1-7EF0-4CCB-B57F-B6C03925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76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50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A80E78-8F86-4F91-A66E-A4517964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5B6854-E498-49A6-B6A6-A271BDEB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290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注入局部子图与原文证据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16572-4031-41F3-8B7B-078427AE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434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55571"/>
                </a:solidFill>
                <a:latin typeface="Microsoft YaHei"/>
                <a:ea typeface="Microsoft YaHei"/>
                <a:cs typeface="Microsoft YaHei"/>
              </a:rPr>
              <a:t>完成可引用的 GraphRAG 问答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03A53B-EED4-4964-9D47-55A90F67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739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96C5CF-66D7-49F7-A722-EEFF191B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6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6B7FF"/>
                </a:solidFill>
                <a:latin typeface="Microsoft YaHei"/>
                <a:ea typeface="Microsoft YaHei"/>
                <a:cs typeface="Microsoft YaHei"/>
              </a:rPr>
              <a:t>阶段结论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5674F4-B8A2-4F2F-8B40-66BEF88E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已完成可运行的知识图谱与约束检索闭环，为下一阶段 GraphRAG 提供可信数据、检索接口和证据路径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11D78C-A36C-4ACB-AFC9-32391ECD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CookKG · 第一阶段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8E49A1-BE0D-4EED-AF64-31845CF1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1809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38907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2026-09-10T03:39:47.5450000Z</dcterms:created>
  <dcterms:modified xsi:type="dcterms:W3CDTF">2026-09-10T03:39:47.5450000Z</dcterms:modified>
</coreProperties>
</file>