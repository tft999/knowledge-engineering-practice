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3a36528a0440a" /><Relationship Type="http://schemas.openxmlformats.org/officeDocument/2006/relationships/extended-properties" Target="/docProps/app.xml" Id="R6b549c8a81914b8a" /><Relationship Type="http://schemas.openxmlformats.org/officeDocument/2006/relationships/officeDocument" Target="/ppt/presentation.xml" Id="Rdccd7c7e0da742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00721de0b45aa"/>
  </p:sldMasterIdLst>
  <p:notesMasterIdLst>
    <p:notesMasterId xmlns:r="http://schemas.openxmlformats.org/officeDocument/2006/relationships" r:id="Rc0eb0b53dea84451"/>
  </p:notesMasterIdLst>
  <p:sldIdLst>
    <p:sldId xmlns:r="http://schemas.openxmlformats.org/officeDocument/2006/relationships" id="256" r:id="R7e095e2c33684275"/>
    <p:sldId xmlns:r="http://schemas.openxmlformats.org/officeDocument/2006/relationships" id="257" r:id="R01bcb6ee275f4fa3"/>
    <p:sldId xmlns:r="http://schemas.openxmlformats.org/officeDocument/2006/relationships" id="258" r:id="Ra74e6780ce164bc7"/>
    <p:sldId xmlns:r="http://schemas.openxmlformats.org/officeDocument/2006/relationships" id="259" r:id="R680c2bb231ba47de"/>
    <p:sldId xmlns:r="http://schemas.openxmlformats.org/officeDocument/2006/relationships" id="260" r:id="R954445593d324ea5"/>
    <p:sldId xmlns:r="http://schemas.openxmlformats.org/officeDocument/2006/relationships" id="261" r:id="Rda5e9d9f94c5453a"/>
    <p:sldId xmlns:r="http://schemas.openxmlformats.org/officeDocument/2006/relationships" id="262" r:id="R097670e2251d4325"/>
    <p:sldId xmlns:r="http://schemas.openxmlformats.org/officeDocument/2006/relationships" id="263" r:id="Rd2b4d52823904a65"/>
    <p:sldId xmlns:r="http://schemas.openxmlformats.org/officeDocument/2006/relationships" id="264" r:id="R2f25a6b90b824245"/>
    <p:sldId xmlns:r="http://schemas.openxmlformats.org/officeDocument/2006/relationships" id="265" r:id="R572772ccb268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053117134448f" /><Relationship Type="http://schemas.openxmlformats.org/officeDocument/2006/relationships/slideMaster" Target="/ppt/slideMasters/slideMaster1.xml" Id="R46000721de0b45aa" /><Relationship Type="http://schemas.openxmlformats.org/officeDocument/2006/relationships/notesMaster" Target="/ppt/notesMasters/notesMaster1.xml" Id="Rc0eb0b53dea84451" /><Relationship Type="http://schemas.openxmlformats.org/officeDocument/2006/relationships/presProps" Target="/ppt/presProps.xml" Id="R4b726a42687246b0" /><Relationship Type="http://schemas.openxmlformats.org/officeDocument/2006/relationships/tableStyles" Target="/ppt/tableStyles.xml" Id="R760822e3ae264cd1" /><Relationship Type="http://schemas.openxmlformats.org/officeDocument/2006/relationships/slide" Target="/ppt/slides/slide1.xml" Id="R7e095e2c33684275" /><Relationship Type="http://schemas.openxmlformats.org/officeDocument/2006/relationships/slide" Target="/ppt/slides/slide2.xml" Id="R01bcb6ee275f4fa3" /><Relationship Type="http://schemas.openxmlformats.org/officeDocument/2006/relationships/slide" Target="/ppt/slides/slide3.xml" Id="Ra74e6780ce164bc7" /><Relationship Type="http://schemas.openxmlformats.org/officeDocument/2006/relationships/slide" Target="/ppt/slides/slide4.xml" Id="R680c2bb231ba47de" /><Relationship Type="http://schemas.openxmlformats.org/officeDocument/2006/relationships/slide" Target="/ppt/slides/slide5.xml" Id="R954445593d324ea5" /><Relationship Type="http://schemas.openxmlformats.org/officeDocument/2006/relationships/slide" Target="/ppt/slides/slide6.xml" Id="Rda5e9d9f94c5453a" /><Relationship Type="http://schemas.openxmlformats.org/officeDocument/2006/relationships/slide" Target="/ppt/slides/slide7.xml" Id="R097670e2251d4325" /><Relationship Type="http://schemas.openxmlformats.org/officeDocument/2006/relationships/slide" Target="/ppt/slides/slide8.xml" Id="Rd2b4d52823904a65" /><Relationship Type="http://schemas.openxmlformats.org/officeDocument/2006/relationships/slide" Target="/ppt/slides/slide9.xml" Id="R2f25a6b90b824245" /><Relationship Type="http://schemas.openxmlformats.org/officeDocument/2006/relationships/slide" Target="/ppt/slides/slide10.xml" Id="R572772ccb268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30fbd3d31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561989ad941a5" /><Relationship Type="http://schemas.openxmlformats.org/officeDocument/2006/relationships/notesMaster" Target="/ppt/notesMasters/notesMaster1.xml" Id="R27459228350647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73b6c87ba41f9" /><Relationship Type="http://schemas.openxmlformats.org/officeDocument/2006/relationships/notesMaster" Target="/ppt/notesMasters/notesMaster1.xml" Id="Rf0fe27fb621e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64cd5c7114689" /><Relationship Type="http://schemas.openxmlformats.org/officeDocument/2006/relationships/notesMaster" Target="/ppt/notesMasters/notesMaster1.xml" Id="Re24d432fe2f4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6ee34903104a6c" /><Relationship Type="http://schemas.openxmlformats.org/officeDocument/2006/relationships/notesMaster" Target="/ppt/notesMasters/notesMaster1.xml" Id="Ree25f780b6ba4d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456349c824591" /><Relationship Type="http://schemas.openxmlformats.org/officeDocument/2006/relationships/notesMaster" Target="/ppt/notesMasters/notesMaster1.xml" Id="R6c1b0c4b168546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d2eeb56de94652" /><Relationship Type="http://schemas.openxmlformats.org/officeDocument/2006/relationships/notesMaster" Target="/ppt/notesMasters/notesMaster1.xml" Id="R17a527c88e5b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dbb981f424e7b" /><Relationship Type="http://schemas.openxmlformats.org/officeDocument/2006/relationships/notesMaster" Target="/ppt/notesMasters/notesMaster1.xml" Id="Rcee3e64759b0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5740e713dd48b5" /><Relationship Type="http://schemas.openxmlformats.org/officeDocument/2006/relationships/notesMaster" Target="/ppt/notesMasters/notesMaster1.xml" Id="R84eebc432df24c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32824aa03a4afd" /><Relationship Type="http://schemas.openxmlformats.org/officeDocument/2006/relationships/notesMaster" Target="/ppt/notesMasters/notesMaster1.xml" Id="R97ce2a82f6c2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354df7ac46403b" /><Relationship Type="http://schemas.openxmlformats.org/officeDocument/2006/relationships/notesMaster" Target="/ppt/notesMasters/notesMaster1.xml" Id="R6849b07fa4ad41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【0:00–0:15】CookKG 现在有两条能力路径：硬约束菜单规划，以及带引用的自然语言问答。本次重点说明图谱在两条路径中分别做什么，以及怎样统一到一个自然语言入口。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【0:15–0:40】第一类问题包含库存、忌口和补购上限，要求结果零违反且可以复算。第二类问题询问做法、用量和跨菜谱关系，需要图谱与原文共同支持。100 道菜完成来源与结构审核，质量门禁得到 60 道严格数据，当前后端支持其中 53 道，并生成 700 条原文证据。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【0:40–1:10】两类能力可以统一成自然语言入口。系统先用规则和模型辅助判断意图、抽取字段。菜单需求进入确定性规划器，知识问题进入 GraphRAG。模型可以决定调用哪条工具，但不能放宽忌口、计算补购或修改排序。当前页面仍分两个入口，下一步可合并为一个输入框。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【1:10–1:35】不同关系产生不同算法动作。必需关系冲突时淘汰菜谱；可选关系冲突时保留菜谱，只省略食材；选择组从允许成员中选一个。类别层级由 IS_A 和 SUBCLASS_OF 表示。工具不进入购物清单。图谱在这里定义约束语义。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35–2:00】输入先统一别名，再检查可用集合与排除集合是否冲突。排除类别时，系统沿已审核的类别边反向展开到具体食材并保存路径。小炒肉必需使用小米椒，小米椒属于辣椒，因此用户排除辣椒时，小炒肉在组合枚举前被淘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【2:00–2:25】通过门禁和过滤后，系统按缺料和库存覆盖排序，截取前 60 道，再枚举一到三道菜组合。每组菜单把必需食材取并集，减去已有食材和常备调料，共享缺料只算一次。最后按补购最少、覆盖最多和稳定 ID 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【2:25–2:50】实际页面返回满足约束的两道菜，并把缺料合并成补购清单。小炒肉为什么没有进入候选，可以通过红色图路径解释。这个结果由集合运算产生，模型不会改变它。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【2:50–3:15】问答先路由，再用向量与关键词召回原料表或步骤；跨菜谱问题通过受控 Cypher 扩展。证据去重后带着固定来源和行号交给模型。模型必须逐句引用 E1 等编号证据，缺失或越界时系统拒绝输出。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【3:15–3:40】问答可以展示步骤、用量、菜谱组成和跨菜谱关联。现场建议先问面包片烤多久，展示原文引用；再问哪些菜使用鸡蛋，展示共享食材图扩展。点击 E1 可以定位固定版本原文。营养和价格没有建模时，系统应返回证据不足。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【3:40–4:00】目前双路径前后端已经跑通。下一步把两个入口合并为统一自然语言路由，固定真实嵌入和生成模型，完成 100 条人工评测与 Neo4j 在线验收。系统边界保持清楚：图谱和确定性算法负责硬约束，模型负责理解表达和组织有引用的回答。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bf111a6c449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0b3353d58d4389" /><Relationship Type="http://schemas.openxmlformats.org/officeDocument/2006/relationships/slideLayout" Target="/ppt/slideLayouts/slideLayout1.xml" Id="R1b645d12510b49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645d12510b49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b57197e78431c" /><Relationship Type="http://schemas.openxmlformats.org/officeDocument/2006/relationships/notesSlide" Target="/ppt/notesSlides/notesSlide1.xml" Id="R75a31f89bb6b41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d8c2e88644c9d" /><Relationship Type="http://schemas.openxmlformats.org/officeDocument/2006/relationships/notesSlide" Target="/ppt/notesSlides/notesSlide2.xml" Id="R341114b0d65f45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66e3e77394166" /><Relationship Type="http://schemas.openxmlformats.org/officeDocument/2006/relationships/notesSlide" Target="/ppt/notesSlides/notesSlide3.xml" Id="R5808c0a9b93c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3edc6900442f" /><Relationship Type="http://schemas.openxmlformats.org/officeDocument/2006/relationships/notesSlide" Target="/ppt/notesSlides/notesSlide4.xml" Id="Rc5e10b3304a448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57bab78d6427a" /><Relationship Type="http://schemas.openxmlformats.org/officeDocument/2006/relationships/notesSlide" Target="/ppt/notesSlides/notesSlide5.xml" Id="R71e7dd3dc635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29af5d0d646b4" /><Relationship Type="http://schemas.openxmlformats.org/officeDocument/2006/relationships/notesSlide" Target="/ppt/notesSlides/notesSlide6.xml" Id="R81b352eddc154d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dd7f04d0407b" /><Relationship Type="http://schemas.openxmlformats.org/officeDocument/2006/relationships/image" Target="/ppt/media/image.png" Id="Rbf50fa83b5254217" /><Relationship Type="http://schemas.openxmlformats.org/officeDocument/2006/relationships/notesSlide" Target="/ppt/notesSlides/notesSlide7.xml" Id="R6650a973159b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f3250d2b84df4" /><Relationship Type="http://schemas.openxmlformats.org/officeDocument/2006/relationships/notesSlide" Target="/ppt/notesSlides/notesSlide8.xml" Id="R9b38f2cfd203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30f27bbd14942" /><Relationship Type="http://schemas.openxmlformats.org/officeDocument/2006/relationships/image" Target="/ppt/media/image2.png" Id="Raa4291af37be4958" /><Relationship Type="http://schemas.openxmlformats.org/officeDocument/2006/relationships/notesSlide" Target="/ppt/notesSlides/notesSlide9.xml" Id="R1d7bca4ce88142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a170b04d44881" /><Relationship Type="http://schemas.openxmlformats.org/officeDocument/2006/relationships/notesSlide" Target="/ppt/notesSlides/notesSlide10.xml" Id="Rb4db59370f1b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842C9-6D0B-419B-A172-E6B2A088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0F914-A8C5-4CE7-AA4A-8DB5485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CookKG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0C606-3770-45AE-A1DE-13F78548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知识图谱约束规划与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可引用 GraphRAG 问答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5F5DB-F8C2-4393-B4B2-7DB681C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338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第二阶段汇报 · 双路径系统与统一自然语言入口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D577C-3002-4359-BF05-49B775D1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09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本次重点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B387A-2BB9-443A-8084-C7A066F3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478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硬约束如何求解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439A2-D085-4511-8BE6-810B823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自然语言如何召回证据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B6C38-9CD7-472C-A049-F55E279F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B4FFD-808A-4A02-89BD-385E261B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100 道审核记录</a:t>
            </a:r>
          </a:p>
          <a:p xmlns:a="http://schemas.openxmlformats.org/drawingml/2006/main">
            <a:pPr algn="l">
              <a:def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60 道严格数据</a:t>
            </a:r>
          </a:p>
          <a:p xmlns:a="http://schemas.openxmlformats.org/drawingml/2006/main">
            <a:pPr algn="l">
              <a:def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700 条可引用证据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1ECB2-CD5C-4777-8439-78691B13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715402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A66EB-24EA-4424-8DFD-292B406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 问题与数据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E7E0D-C5CA-445C-95B5-4EAB8102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系统处理两类问题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C5724-F998-4343-9F01-A66FD71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EE8C1-0542-42E5-8E77-C55EFA63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58D14-E954-4FD3-891E-FCC0F78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570E6-1372-4915-BCFD-69A049F4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同一份审核知识库，服务两个用户目标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CFBE2-4AA8-4642-BA0E-E4625E2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619375"/>
          </a:xfrm>
          <a:prstGeom xmlns:a="http://schemas.openxmlformats.org/drawingml/2006/main" prst="roundRect">
            <a:avLst>
              <a:gd name="adj" fmla="val 5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2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FE18A-3117-468C-9EA4-8A910BF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  硬约束菜单规划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92812-A0D0-4B54-B2BA-0B543D7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“我有鸡蛋和洋葱，不吃辣椒，</a:t>
            </a:r>
          </a:p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做两道菜，最多补购两种。”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C477C-55FB-4D2A-9003-C469518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输出：可行菜单、合并补购、排除路径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63EA9-490D-4364-9543-37F651DE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52625"/>
            <a:ext cx="5095875" cy="2619375"/>
          </a:xfrm>
          <a:prstGeom xmlns:a="http://schemas.openxmlformats.org/drawingml/2006/main" prst="roundRect">
            <a:avLst>
              <a:gd name="adj" fmla="val 5818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D7C5F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7BAB-1159-40DB-8204-014CC896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71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B  自然语言证据问答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DA394-FAAA-45E5-B6DC-E88CFC1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1462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“哪些菜都使用鸡蛋？”</a:t>
            </a:r>
          </a:p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“面包片要烤多久？”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65C75-3A93-4496-AB58-9BD7D1D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576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输出：回答、检索路由、原文引用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A29A1-C6F1-4C1A-ACBC-B8EBF45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91D0B-0F27-45CF-8051-A44C376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已检查并批准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8B410-5F04-4A5C-9B0C-0D85D3F7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482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5C04D-39FE-49A2-B0ED-59016858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543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严格数据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AF041-1D84-4AD8-9CFD-5947B71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482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757C2-C762-4B43-A8B7-F9AE34F1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43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后端可用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1DEF2-D855-4045-81BA-9A7E15DF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0482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700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5663D-8526-4D41-BD6F-23FF3A82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543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Evidence chunks</a:t>
            </a:r>
          </a:p>
        </p:txBody>
      </p:sp>
    </p:spTree>
    <p:extLst>
      <p:ext uri="{BB962C8B-B14F-4D97-AF65-F5344CB8AC3E}">
        <p14:creationId xmlns:p14="http://schemas.microsoft.com/office/powerpoint/2010/main" val="1298594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DDC30-0B92-4E49-AACF-0E17084F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  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531FD-251C-4B97-9DF9-F3FE780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统一自然语言入口与混合路由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D756E-F18C-485B-B037-47D5DDD9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B4F42-4A8C-4485-B6A3-F5732690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35155-823A-4ECF-AA4D-02512E8D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E4D6F-CE8D-48DF-8D3E-19B94A2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用户只描述需求，路由器选择受控链路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BA1CA-55C6-4177-8B27-0F1C763D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955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1BCA-ABC3-474C-8BFE-CB7068B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自然语言输入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4C07D-B85B-4EBF-8822-835C15B5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问题或菜单需求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73EBA-8584-48F1-BA9D-9EF6F842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EA2A1-529A-49E3-9E8C-51768516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25717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07A88-D9A9-4E01-BC81-7E4B1CEF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478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意图识别与字段抽取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1BA7C-62F5-48DA-8513-A1E6D1D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规则优先，模型辅助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E5338-A827-4C7B-A280-F49B62A6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383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7A17A-0293-4709-8E2C-CFD82CD2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3A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1920A-CE64-4DEF-BBD4-9F7826D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71625"/>
            <a:ext cx="4857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3ED14-5700-45E6-AF17-0157C1E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66875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硬约束规划器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7D62F-465F-4638-8EBA-03D5D951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002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归一化、类别展开、过滤、组合优化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C7AD4-0E92-4481-B8D3-20201492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050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图谱和确定性算法给出最终结论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4E19D-114A-4E81-BCBB-0B9FE52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33750"/>
            <a:ext cx="4857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D08B3-32B6-4E32-8D8F-27DC9B3F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290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GraphRAG 问答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D5127-9B54-4431-A070-F148A19C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6237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文本召回、图扩展、引用校验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619EF-E387-4917-A68F-D74EBF66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6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模型只根据编号证据组织答案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13452-BBA2-4692-AFEA-C660DBF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1087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CE8D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58328-44CB-47B9-ADFB-678AE50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1035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模型负责路由和字段抽取；忌口展开、补购集合与排序仍由确定性算法完成</a:t>
            </a:r>
          </a:p>
        </p:txBody>
      </p:sp>
    </p:spTree>
    <p:extLst>
      <p:ext uri="{BB962C8B-B14F-4D97-AF65-F5344CB8AC3E}">
        <p14:creationId xmlns:p14="http://schemas.microsoft.com/office/powerpoint/2010/main" val="783920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2EE755-FC53-4139-8185-0317EAA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 硬约束规划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09B01-4184-4D2E-8A11-B0767CB2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硬约束所需的图谱语义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61BEF-6662-47CF-8C8A-5C0676A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48B8B-C107-44BB-A136-1AD19411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AD1E4-B8D9-4485-897B-49891479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0F55B-20F9-42AF-90DE-4C106780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关系类型决定系统是淘汰、保留还是选择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4EE6D-FA14-42BE-8609-06859E3B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158E6-1E7F-4BD1-93BF-01EB62E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小炒肉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2706A-98F1-4F10-9FE1-470A8C25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Recipe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1C54B-DDD9-4ED9-AFAB-21EC52C4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4312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9310C-61D1-41E9-B595-DB274129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小米椒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D6B2B-6E75-4CE7-83BA-195C2D4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Ingredient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6A065-D5D1-4AAF-BE18-936AB3C6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4312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30757-A891-4FB6-A7B6-6F2A20EF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辣椒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DF35F-7878-4D59-9B75-FE2C922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5CCD5-2E46-4340-901B-92B6D0C0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4312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AD689-4382-43F8-B014-8E06C7B2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383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蔬菜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4ABFE-F48F-40D9-9F7C-76D3D263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194E7-4CCD-46BE-B87B-CAD0A92C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BED89-6CA1-4405-BBB8-A1AC63F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REQUIRES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D9E30-A1D3-4850-BD78-517D0AF7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966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D0A97-7092-4BCF-8531-50946F41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IS_A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107E6-91A6-4EF4-8B4F-2C16FC06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3A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73FEB-F2B0-4813-A993-8BF62D0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SUBCLASS_OF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15DE3-025B-4E42-9ABA-CDC92E9A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86125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4259F-C088-4D95-8C9D-64CB7A4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REQUIRES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ADE81-12E2-4A59-A289-0AD643B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必需冲突：淘汰菜谱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558B3-CA9C-4427-B8FF-59E8BB5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14750"/>
            <a:ext cx="3286125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D5F3C-25BC-4A88-8852-332B04C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243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OPTIONALLY_USES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9C8D8-42F7-4B66-A38B-66B8BA7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005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可选冲突：保留并省略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AC20C0-A249-4383-B675-810C102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286125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87172-9A59-42B9-BF26-3B9C410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ONE_OF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795ECB-D453-40C9-B6FF-C85EFDA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选择组：从可用成员中选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21BDD-5D3F-4387-A85E-B0A13838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工具独立建模，不进入购物清单；只有已审阅类别边参与推理</a:t>
            </a:r>
          </a:p>
        </p:txBody>
      </p:sp>
    </p:spTree>
    <p:extLst>
      <p:ext uri="{BB962C8B-B14F-4D97-AF65-F5344CB8AC3E}">
        <p14:creationId xmlns:p14="http://schemas.microsoft.com/office/powerpoint/2010/main" val="504461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18D33-C236-47EA-9D86-CFE77DDB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 硬约束规划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5565B-2011-4BB7-AE73-B80D73AE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输入归一化与类别排除展开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A3A2D-E598-4E35-96DE-2B07938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796B8-12E1-4A82-AE14-8A3AB0D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28AE0-4A97-42C9-9BC1-77F71EA3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82585-6E63-44C5-A6B7-05D50677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先确定哪些菜绝对不能进入候选集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6B778-57C5-4EA1-8855-A1F3A0FA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003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1FB0B-A515-4AAA-96B2-1BB8CD0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05BDE-20A4-4FC0-86EF-F1F5CC2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71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D381E-5955-42C3-AA3B-E94E1BB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019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番茄映射为西红柿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清理空白和重复项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2E3B8-4AC9-4D51-AC5E-AFE3A18F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4003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9A2E3-68C4-4F61-B45B-384AF799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81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58115-DA02-4653-8B12-1703E310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71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冲突检查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78275-CC64-4369-A1D1-C252751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019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同一食材既可用又排除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直接返回 422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2C133-9236-48A8-BC2C-4CB8DF1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24003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7B99D-485F-431F-A879-60DFDD1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81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95DC9-D68D-42AE-9FB0-FDFC4D5C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71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反向展开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0A7AB-9580-4235-976D-C3095640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019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排除辣椒时展开小米椒、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朝天椒等已审阅后代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8BD23-98AC-4B77-81C7-92E109D8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47875"/>
            <a:ext cx="240030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BBB44-CBEE-4198-893D-A4758ADE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81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DF1BB-2BCA-4474-B04B-1E22BC5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71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保存路径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FD0B3-2877-491A-B381-C5B775DF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019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记录类别、具体食材和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受影响菜谱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DE71B-0DB7-42F1-BE4A-0A41CB3B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72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FECA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FFBC0-86D2-477B-B42F-B6331264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小炒肉   REQUIRES   小米椒   IS_A   辣椒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FF2B9-D6E7-400F-8080-230E687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6252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必需食材命中，组合枚举前淘汰</a:t>
            </a:r>
          </a:p>
        </p:txBody>
      </p:sp>
    </p:spTree>
    <p:extLst>
      <p:ext uri="{BB962C8B-B14F-4D97-AF65-F5344CB8AC3E}">
        <p14:creationId xmlns:p14="http://schemas.microsoft.com/office/powerpoint/2010/main" val="589340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73829-1DE0-4784-9FA4-378F61F7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 硬约束规划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84AC0-D52F-49D5-8DBE-62F7579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候选筛选与多菜联合补购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41E43-C17D-4E63-A4B9-C5BDBFF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2FD97-9658-4D49-AAA1-223FC344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65C43-DA74-4CB0-95D0-41E67F16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5549F-4DA3-45E3-B1CC-2BB12B11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在可行菜谱中选择整组菜单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8A7C4-1C1B-40E4-A1E7-14C250E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F1299-A61D-4D38-8928-07050B76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619A1-F380-461F-B5F9-F287679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240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审核门禁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4B6ED-5EE8-4D4B-B82B-E1233E84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只保留完整菜谱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D4A4F-7E36-415F-ABEF-AABF7E9F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B3324-17CF-422D-93EB-67872938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20491-BD0A-4B6B-B09F-DE6FAF16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240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排除过滤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B212C-1BF5-42C7-96C5-3A432E23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24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淘汰必需冲突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D5C6-B007-479E-87D0-3194424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2D9C1-46AE-4C31-B249-4C2F234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9DD39-2EC5-4349-9B66-83C40A48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240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A8F84-6DBE-4D9E-9028-303F1DBC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缺料少、覆盖多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8E62B-8C8C-4BFF-B0BD-D9D28DD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A1269-D672-4205-BBF4-38E546B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80DB9-BDBE-4494-AD82-58E438BC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004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组合枚举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DC726-16F0-4871-97E7-4320CFE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 60 道中选 1 至 3 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C8668-8964-45F9-A825-ACF390E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983C2-C3DF-4D35-9B03-77364C36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99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FDA7E-A3EF-4E7B-A8CD-3366BB1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004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联合计算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737EB-D14B-4DD1-B76A-1B5030DD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必需食材取并集后减库存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80370-5686-4E0F-9477-0B8ACDC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323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C7463-429D-4F3C-95A8-A9C6EA14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1C6E5-1547-4277-95B4-8AE5EE19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004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稳定排序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F4118-4328-4169-B8D2-973F70E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补购少、覆盖多、ID 稳定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39083-32F9-49B0-B80E-F2B087D1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5537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2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5580A-6D22-4F4A-BE00-A0D30AF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435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Buy(M) = 所选菜谱必需食材并集 − 已有食材 − 常备调料</a:t>
            </a:r>
          </a:p>
        </p:txBody>
      </p:sp>
    </p:spTree>
    <p:extLst>
      <p:ext uri="{BB962C8B-B14F-4D97-AF65-F5344CB8AC3E}">
        <p14:creationId xmlns:p14="http://schemas.microsoft.com/office/powerpoint/2010/main" val="1601821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3816E-2DAB-4931-86B5-B0C1CD85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  结果展示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2459C-9C0A-499B-AE25-E523CF2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硬约束规划结果与图谱解释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0FA15-43B3-4A4C-B67C-BBF6444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1D9E-460C-4129-AD22-64616923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5776C-3306-47A8-BEA0-EDFE01D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0fa83b5254217"/>
          <a:stretch xmlns:a="http://schemas.openxmlformats.org/drawingml/2006/main"/>
        </p:blipFill>
        <p:spPr>
          <a:xfrm xmlns:a="http://schemas.openxmlformats.org/drawingml/2006/main">
            <a:off x="544830" y="1381125"/>
            <a:ext cx="7063740" cy="4905375"/>
          </a:xfrm>
          <a:prstGeom xmlns:a="http://schemas.openxmlformats.org/drawingml/2006/main" prst="roundRect">
            <a:avLst>
              <a:gd name="adj" fmla="val 271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944D5-6B04-4EB8-9F98-3A91086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演示输入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AB429-D83B-4450-ABCE-F4167193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8117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已有：鸡蛋、洋葱、面包片</a:t>
            </a:r>
          </a:p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排除：辣椒</a:t>
            </a:r>
          </a:p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做 2 道，最多补购 2 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04321-0506-4623-81E5-101FFB2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333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CE8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F99D6-7B39-4329-B4B8-480E8B2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242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结果：两道菜，联合补购 1 种“葱”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0A4A9-1DA6-4807-A084-FEF9132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FECA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CFC49-7CA1-49A8-A0FD-FA5C3F25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24375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解释：小炒肉需要小米椒</a:t>
            </a:r>
          </a:p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小米椒属于辣椒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8B7A5-FE1C-4F18-BCD4-2E3692E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53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结果可复算，解释可回到图关系与固定原文</a:t>
            </a:r>
          </a:p>
        </p:txBody>
      </p:sp>
    </p:spTree>
    <p:extLst>
      <p:ext uri="{BB962C8B-B14F-4D97-AF65-F5344CB8AC3E}">
        <p14:creationId xmlns:p14="http://schemas.microsoft.com/office/powerpoint/2010/main" val="632052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6A66AC-7BA6-467B-AEE7-2379E52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  自然语言问答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80054-7144-4012-B664-5C8AAA8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自然语言问题的 GraphRAG 检索链路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BC0A-D8F5-44B7-A46C-A297683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9B4AE-B6B4-4B10-8B47-810E83CC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283F2-00E6-41F4-AD85-B5BA92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FFA9B-BB90-4744-A5F1-1CAC51F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回答受编号证据约束，图谱补充跨实体关系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C293-5959-4210-B069-50F6E22D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5811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02C84-9308-4114-9B25-0CC3EFA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A8F7A-BB8A-48A6-8D2C-ADC2F54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669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D697E-7F23-4DA8-A95B-C3A00FAA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识别问题类型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3B166-63A3-4D76-872B-F73912F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05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4613D-1E7B-4F49-B0E6-2676D4FF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15811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8FC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D02F8-0A53-4B2C-8FA3-49F5C72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76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248FB-6C32-4436-BC0F-2B157C0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669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召回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885A6-BE8C-4CBC-8ACE-64CBCD05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向量与关键词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25C87-28F2-4010-8FA9-9BD97F3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05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BD17E-080A-4BF1-990B-7FB7A564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15811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12A04-0858-439B-AB08-5EA8F8A0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76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2EB96-B446-4124-9235-C1B62917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图扩展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9612A-971F-4377-9B5E-24B08596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受控 Cypher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324DB-7F8F-4F5F-A206-7A09443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05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16765-552A-4A7B-AD01-F52141C4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43125"/>
            <a:ext cx="15811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B4F7B-31A1-4649-AA09-2155F229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F7CB9-2E1A-49E1-924E-72414EBB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669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排序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1F55F-2DEA-4F68-BCC7-BF4C7567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去重并保留行号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EB66D-9A25-4390-9B5C-5795F02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05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6D96E-508A-48CC-B219-8FF9C346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43125"/>
            <a:ext cx="15811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351DC-EBEF-4872-BF0A-EA66AE2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76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88108B-52CA-4694-8D85-81A274B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669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17623-53F0-44E1-AAFC-1E7640C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只接收编号证据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D8E01-59CF-4017-8688-BAC31E8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051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93327-0A5F-4726-B7C8-50B024FD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15811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403AF-DF03-4967-B1E7-5A3DD88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764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6EB32A-6877-4F7D-B9F9-16E0E7D0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669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36C936-B17B-49C3-8338-6D024D2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缺失引用则拒绝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5C6E72-F831-4F2A-B26B-6FF61E35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6299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E1E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E2BC6B-5109-4D4F-9904-048B88D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62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Vector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BF87A-7046-4D53-9266-1997F23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62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VectorCypher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1E28EE-609C-4034-94CD-67C30C01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762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Hybrid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AA8483-4063-43D9-B2CC-86E54F2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HybridCypher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21A6D0-B959-465C-A1DD-01B7331C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62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Auto 自动路由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711388-2874-4EBD-965D-8CAA384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970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每条 Evidence 保存菜谱 ID、章节、行号、原文和固定版本链接</a:t>
            </a:r>
          </a:p>
        </p:txBody>
      </p:sp>
    </p:spTree>
    <p:extLst>
      <p:ext uri="{BB962C8B-B14F-4D97-AF65-F5344CB8AC3E}">
        <p14:creationId xmlns:p14="http://schemas.microsoft.com/office/powerpoint/2010/main" val="871333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09917-A5A0-4936-A5D8-C1CE1976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  自然语言问答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C5CD1-2297-4245-B729-AB997B24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GraphRAG 支持的演示问题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B521B-D7F3-4D60-8791-592A109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ACA56-2D92-499B-8001-F09A1865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E5B73-62DF-4779-AEDD-78B2CF9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291af37be4958"/>
          <a:stretch xmlns:a="http://schemas.openxmlformats.org/drawingml/2006/main"/>
        </p:blipFill>
        <p:spPr>
          <a:xfrm xmlns:a="http://schemas.openxmlformats.org/drawingml/2006/main">
            <a:off x="5704603" y="1381125"/>
            <a:ext cx="4926169" cy="4857750"/>
          </a:xfrm>
          <a:prstGeom xmlns:a="http://schemas.openxmlformats.org/drawingml/2006/main" prst="roundRect">
            <a:avLst>
              <a:gd name="adj" fmla="val 274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70730-92D8-4536-A28A-81160394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步骤事实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A879F-0638-4F75-B249-B80BC361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空气炸锅面包片要烤多久？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6BCE6-11A1-422A-8F1F-0400181A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66FD3-05A9-4F7C-9443-5333E8B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4BC77-2B3C-42D7-8731-E05C6989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食材用量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C4B81-AE4D-4048-938F-E42263B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洋葱炒鸡蛋需要几个鸡蛋？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4DAE1-4CAF-42D6-8E4F-33B13FBD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A5672-5661-48FC-8438-3F44FC09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DA17B-E25E-457F-A493-080E449B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菜谱组成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B9D85-7E16-4F82-9638-76760BE8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小炒肉需要哪些必需食材？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F8A9F-3485-40F5-BE0D-122799C7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VectorCypher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4E334-4390-42B6-9032-4B53123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93576-A3F4-4501-8B9A-36D1026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跨菜关联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200E5-8FCA-4810-8DB1-86FC2CA0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哪些菜都使用鸡蛋？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828D3-8142-450D-90AD-7EF3DC4A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HybridCypher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14DAF-794D-4364-A661-43C0459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38100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F6D69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F83AD-DDAF-4D4E-AC61-1A06222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无来源问题返回“证据不足”</a:t>
            </a:r>
          </a:p>
        </p:txBody>
      </p:sp>
    </p:spTree>
    <p:extLst>
      <p:ext uri="{BB962C8B-B14F-4D97-AF65-F5344CB8AC3E}">
        <p14:creationId xmlns:p14="http://schemas.microsoft.com/office/powerpoint/2010/main" val="27770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741B9-FA42-40F1-9C8C-7AA8BC0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  阶段结论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791C6-EA54-4596-A0EA-2801CB0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当前完成度与下一步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02244-ED98-4E61-8B4D-8CF9A0FC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FAD8-D74C-4538-90A8-2D1A1D6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CookKG · 第二阶段汇报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F66B7-7881-4974-B9F8-61E63D2D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77991-97B4-4A72-A373-7F185A7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双路径已经形成可运行闭环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4F924-D329-432D-BCED-566E744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CE65C-ECB1-45BD-83D0-C9902F5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菜谱审核记录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6295B-F4F1-4444-8C28-285E1A96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539 / 1,292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BC315-5135-4727-8684-19317920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86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图节点 / 关系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462E9-4511-4EB5-9A94-CF4DCB2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812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122 + 20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7668A-83AE-4479-8272-82A06F38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86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Python / 前端测试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C3BE4-3D47-40B8-9952-44EE544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8120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612D5-B419-4C43-BE11-B28F8B73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86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GraphRAG 检索器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5DB69-E34F-442E-B675-9CD8BF87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7EDAD-1C1D-4AD9-9BA2-9F39567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EC792-1B1A-46D8-88C9-4E1CA4D9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F7567-788A-4EAF-8904-F59B79B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0525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合并两个入口，低置信度时要求澄清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3DC5E-C827-4E9F-9218-B096B52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真实模型实验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87978-C5B5-45D1-AB09-F4241F47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固定嵌入与生成模型，报告真实指标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97600-8064-4FB7-9DEE-DDC97B1F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对照评测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6A95D-DC8A-4B52-86F7-9691EC97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3870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100 条人工题比较 Vector 与 HybridCypher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02580-C99F-4C90-8DE3-179B84F1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387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Neo4j 在线验收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17099-B569-4F95-BCBC-83533658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38700"/>
            <a:ext cx="3571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验证重复导入和图查询一致性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E2B32-3C35-4F7F-B3B8-E277803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B7B38-C0CB-4E38-BF94-7B430B6E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1040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图谱负责硬约束与关系扩展，模型负责理解表达和组织有引用的答案</a:t>
            </a:r>
          </a:p>
        </p:txBody>
      </p:sp>
    </p:spTree>
    <p:extLst>
      <p:ext uri="{BB962C8B-B14F-4D97-AF65-F5344CB8AC3E}">
        <p14:creationId xmlns:p14="http://schemas.microsoft.com/office/powerpoint/2010/main" val="1771584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2026-09-14T11:04:08.9710000Z</dcterms:created>
  <dcterms:modified xsi:type="dcterms:W3CDTF">2026-09-14T11:04:08.9710000Z</dcterms:modified>
</coreProperties>
</file>